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ideep Kukkadapu" userId="8ab54f950e3734ce" providerId="LiveId" clId="{325913BF-663A-4517-9458-4D568B7E6DE8}"/>
    <pc:docChg chg="undo custSel modSld">
      <pc:chgData name="Manideep Kukkadapu" userId="8ab54f950e3734ce" providerId="LiveId" clId="{325913BF-663A-4517-9458-4D568B7E6DE8}" dt="2026-09-05T06:11:16.095" v="163" actId="1076"/>
      <pc:docMkLst>
        <pc:docMk/>
      </pc:docMkLst>
      <pc:sldChg chg="addSp delSp modSp mod">
        <pc:chgData name="Manideep Kukkadapu" userId="8ab54f950e3734ce" providerId="LiveId" clId="{325913BF-663A-4517-9458-4D568B7E6DE8}" dt="2026-09-05T06:11:16.095" v="163" actId="1076"/>
        <pc:sldMkLst>
          <pc:docMk/>
          <pc:sldMk cId="0" sldId="290"/>
        </pc:sldMkLst>
        <pc:spChg chg="add del mod">
          <ac:chgData name="Manideep Kukkadapu" userId="8ab54f950e3734ce" providerId="LiveId" clId="{325913BF-663A-4517-9458-4D568B7E6DE8}" dt="2026-09-05T06:08:39.843" v="17" actId="20577"/>
          <ac:spMkLst>
            <pc:docMk/>
            <pc:sldMk cId="0" sldId="290"/>
            <ac:spMk id="17414" creationId="{00000000-0000-0000-0000-000000000000}"/>
          </ac:spMkLst>
        </pc:spChg>
        <pc:spChg chg="mod">
          <ac:chgData name="Manideep Kukkadapu" userId="8ab54f950e3734ce" providerId="LiveId" clId="{325913BF-663A-4517-9458-4D568B7E6DE8}" dt="2026-09-05T06:09:18.323" v="65" actId="20577"/>
          <ac:spMkLst>
            <pc:docMk/>
            <pc:sldMk cId="0" sldId="290"/>
            <ac:spMk id="17417" creationId="{00000000-0000-0000-0000-000000000000}"/>
          </ac:spMkLst>
        </pc:spChg>
        <pc:spChg chg="mod">
          <ac:chgData name="Manideep Kukkadapu" userId="8ab54f950e3734ce" providerId="LiveId" clId="{325913BF-663A-4517-9458-4D568B7E6DE8}" dt="2026-09-05T06:09:40.231" v="96" actId="20577"/>
          <ac:spMkLst>
            <pc:docMk/>
            <pc:sldMk cId="0" sldId="290"/>
            <ac:spMk id="17420" creationId="{00000000-0000-0000-0000-000000000000}"/>
          </ac:spMkLst>
        </pc:spChg>
        <pc:spChg chg="mod">
          <ac:chgData name="Manideep Kukkadapu" userId="8ab54f950e3734ce" providerId="LiveId" clId="{325913BF-663A-4517-9458-4D568B7E6DE8}" dt="2026-09-05T06:08:58.479" v="36" actId="20577"/>
          <ac:spMkLst>
            <pc:docMk/>
            <pc:sldMk cId="0" sldId="290"/>
            <ac:spMk id="17423" creationId="{00000000-0000-0000-0000-000000000000}"/>
          </ac:spMkLst>
        </pc:spChg>
        <pc:spChg chg="del">
          <ac:chgData name="Manideep Kukkadapu" userId="8ab54f950e3734ce" providerId="LiveId" clId="{325913BF-663A-4517-9458-4D568B7E6DE8}" dt="2026-09-05T06:10:39.876" v="155" actId="21"/>
          <ac:spMkLst>
            <pc:docMk/>
            <pc:sldMk cId="0" sldId="290"/>
            <ac:spMk id="17424" creationId="{00000000-0000-0000-0000-000000000000}"/>
          </ac:spMkLst>
        </pc:spChg>
        <pc:spChg chg="del">
          <ac:chgData name="Manideep Kukkadapu" userId="8ab54f950e3734ce" providerId="LiveId" clId="{325913BF-663A-4517-9458-4D568B7E6DE8}" dt="2026-09-05T06:10:48.219" v="158" actId="478"/>
          <ac:spMkLst>
            <pc:docMk/>
            <pc:sldMk cId="0" sldId="290"/>
            <ac:spMk id="17425" creationId="{00000000-0000-0000-0000-000000000000}"/>
          </ac:spMkLst>
        </pc:spChg>
        <pc:spChg chg="del mod">
          <ac:chgData name="Manideep Kukkadapu" userId="8ab54f950e3734ce" providerId="LiveId" clId="{325913BF-663A-4517-9458-4D568B7E6DE8}" dt="2026-09-05T06:10:45.601" v="157" actId="478"/>
          <ac:spMkLst>
            <pc:docMk/>
            <pc:sldMk cId="0" sldId="290"/>
            <ac:spMk id="17426" creationId="{00000000-0000-0000-0000-000000000000}"/>
          </ac:spMkLst>
        </pc:spChg>
        <pc:spChg chg="mod">
          <ac:chgData name="Manideep Kukkadapu" userId="8ab54f950e3734ce" providerId="LiveId" clId="{325913BF-663A-4517-9458-4D568B7E6DE8}" dt="2026-09-05T06:10:53.092" v="159" actId="1076"/>
          <ac:spMkLst>
            <pc:docMk/>
            <pc:sldMk cId="0" sldId="290"/>
            <ac:spMk id="17427" creationId="{00000000-0000-0000-0000-000000000000}"/>
          </ac:spMkLst>
        </pc:spChg>
        <pc:spChg chg="mod">
          <ac:chgData name="Manideep Kukkadapu" userId="8ab54f950e3734ce" providerId="LiveId" clId="{325913BF-663A-4517-9458-4D568B7E6DE8}" dt="2026-09-05T06:11:04.986" v="162" actId="1076"/>
          <ac:spMkLst>
            <pc:docMk/>
            <pc:sldMk cId="0" sldId="290"/>
            <ac:spMk id="17428" creationId="{00000000-0000-0000-0000-000000000000}"/>
          </ac:spMkLst>
        </pc:spChg>
        <pc:spChg chg="mod">
          <ac:chgData name="Manideep Kukkadapu" userId="8ab54f950e3734ce" providerId="LiveId" clId="{325913BF-663A-4517-9458-4D568B7E6DE8}" dt="2026-09-05T06:11:16.095" v="163" actId="1076"/>
          <ac:spMkLst>
            <pc:docMk/>
            <pc:sldMk cId="0" sldId="290"/>
            <ac:spMk id="1742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Problem Statement ID – </a:t>
            </a:r>
            <a:r>
              <a:rPr lang="en-IN" dirty="0"/>
              <a:t>SIH26001</a:t>
            </a:r>
          </a:p>
          <a:p>
            <a:endParaRPr lang="en-IN" dirty="0"/>
          </a:p>
          <a:p>
            <a:r>
              <a:rPr lang="en-IN" dirty="0"/>
              <a:t>Problem Statement Title – AI-Based early warning and landslide Risk Monitoring System in NER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606040" y="164592"/>
            <a:ext cx="6903720" cy="960120"/>
          </a:xfrm>
        </p:spPr>
        <p:txBody>
          <a:bodyPr wrap="square" anchor="ctr"/>
          <a:lstStyle/>
          <a:p>
            <a:pPr algn="l" eaLnBrk="1" hangingPunct="1"/>
            <a:r>
              <a:rPr sz="2400" b="1" i="0">
                <a:solidFill>
                  <a:srgbClr val="1B3A5C"/>
                </a:solidFill>
                <a:latin typeface="Calibri"/>
              </a:rPr>
              <a:t>LandSafe AI: Predictive Landslide Warning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02920" y="1444752"/>
            <a:ext cx="5464911" cy="2048256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5363" name="Oval 15362"/>
          <p:cNvSpPr/>
          <p:nvPr/>
        </p:nvSpPr>
        <p:spPr>
          <a:xfrm>
            <a:off x="676656" y="1618488"/>
            <a:ext cx="566928" cy="56692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4" name="Cloud 15363"/>
          <p:cNvSpPr/>
          <p:nvPr/>
        </p:nvSpPr>
        <p:spPr>
          <a:xfrm>
            <a:off x="818388" y="1760220"/>
            <a:ext cx="283464" cy="283464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TextBox 15364"/>
          <p:cNvSpPr txBox="1"/>
          <p:nvPr/>
        </p:nvSpPr>
        <p:spPr>
          <a:xfrm>
            <a:off x="1371600" y="1645920"/>
            <a:ext cx="445907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 i="0">
                <a:solidFill>
                  <a:srgbClr val="1B3A5C"/>
                </a:solidFill>
                <a:latin typeface="Calibri"/>
              </a:rPr>
              <a:t>Proposed Solution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758952" y="2340864"/>
            <a:ext cx="4952847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50" b="1" i="0">
                <a:solidFill>
                  <a:srgbClr val="0070C0"/>
                </a:solidFill>
                <a:latin typeface="Calibri"/>
              </a:rPr>
              <a:t>87%+ accuracy: </a:t>
            </a:r>
            <a:r>
              <a:rPr sz="1150" b="0" i="0">
                <a:solidFill>
                  <a:srgbClr val="44546A"/>
                </a:solidFill>
                <a:latin typeface="Calibri"/>
              </a:rPr>
              <a:t>AI platform fusing real-time weather, satellite imagery, terrain data &amp; citizen reports to predict landslide risk 24–72 hours in advance.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6223863" y="1444752"/>
            <a:ext cx="5464911" cy="2048256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5368" name="Oval 15367"/>
          <p:cNvSpPr/>
          <p:nvPr/>
        </p:nvSpPr>
        <p:spPr>
          <a:xfrm>
            <a:off x="6397599" y="1618488"/>
            <a:ext cx="566928" cy="566928"/>
          </a:xfrm>
          <a:prstGeom prst="ellipse">
            <a:avLst/>
          </a:prstGeom>
          <a:solidFill>
            <a:srgbClr val="0B4F8A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9" name="Hexagon 15368"/>
          <p:cNvSpPr/>
          <p:nvPr/>
        </p:nvSpPr>
        <p:spPr>
          <a:xfrm>
            <a:off x="6539331" y="1760220"/>
            <a:ext cx="283464" cy="283464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TextBox 15369"/>
          <p:cNvSpPr txBox="1"/>
          <p:nvPr/>
        </p:nvSpPr>
        <p:spPr>
          <a:xfrm>
            <a:off x="7092543" y="1645920"/>
            <a:ext cx="445907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 i="0">
                <a:solidFill>
                  <a:srgbClr val="1B3A5C"/>
                </a:solidFill>
                <a:latin typeface="Calibri"/>
              </a:rPr>
              <a:t>Key Innovation</a:t>
            </a:r>
          </a:p>
        </p:txBody>
      </p:sp>
      <p:sp>
        <p:nvSpPr>
          <p:cNvPr id="15371" name="TextBox 15370"/>
          <p:cNvSpPr txBox="1"/>
          <p:nvPr/>
        </p:nvSpPr>
        <p:spPr>
          <a:xfrm>
            <a:off x="6479895" y="2340864"/>
            <a:ext cx="4952847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50" b="1" i="0">
                <a:solidFill>
                  <a:srgbClr val="0B4F8A"/>
                </a:solidFill>
                <a:latin typeface="Calibri"/>
              </a:rPr>
              <a:t>Ensemble ML: </a:t>
            </a:r>
            <a:r>
              <a:rPr sz="1150" b="0" i="0">
                <a:solidFill>
                  <a:srgbClr val="44546A"/>
                </a:solidFill>
                <a:latin typeface="Calibri"/>
              </a:rPr>
              <a:t>XGBoost + Random Forest + LSTM, GIS heatmapping, multilingual app, 3D dashboard &amp; offline-capable architecture for remote NER villages.</a:t>
            </a:r>
          </a:p>
        </p:txBody>
      </p:sp>
      <p:sp>
        <p:nvSpPr>
          <p:cNvPr id="15372" name="Rounded Rectangle 15371"/>
          <p:cNvSpPr/>
          <p:nvPr/>
        </p:nvSpPr>
        <p:spPr>
          <a:xfrm>
            <a:off x="502920" y="3749040"/>
            <a:ext cx="5464911" cy="2048256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5373" name="Oval 15372"/>
          <p:cNvSpPr/>
          <p:nvPr/>
        </p:nvSpPr>
        <p:spPr>
          <a:xfrm>
            <a:off x="676656" y="3922776"/>
            <a:ext cx="566928" cy="566928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4" name="Lightning Bolt 15373"/>
          <p:cNvSpPr/>
          <p:nvPr/>
        </p:nvSpPr>
        <p:spPr>
          <a:xfrm>
            <a:off x="818388" y="4064508"/>
            <a:ext cx="283464" cy="283464"/>
          </a:xfrm>
          <a:prstGeom prst="lightningBol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TextBox 15374"/>
          <p:cNvSpPr txBox="1"/>
          <p:nvPr/>
        </p:nvSpPr>
        <p:spPr>
          <a:xfrm>
            <a:off x="1371600" y="3950208"/>
            <a:ext cx="445907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 i="0">
                <a:solidFill>
                  <a:srgbClr val="1B3A5C"/>
                </a:solidFill>
                <a:latin typeface="Calibri"/>
              </a:rPr>
              <a:t>How It Addresses The Problem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758952" y="4645152"/>
            <a:ext cx="4952847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50" b="1" i="0">
                <a:solidFill>
                  <a:srgbClr val="D9531E"/>
                </a:solidFill>
                <a:latin typeface="Calibri"/>
              </a:rPr>
              <a:t>Reactive → Predictive: </a:t>
            </a:r>
            <a:r>
              <a:rPr sz="1150" b="0" i="0">
                <a:solidFill>
                  <a:srgbClr val="44546A"/>
                </a:solidFill>
                <a:latin typeface="Calibri"/>
              </a:rPr>
              <a:t>Shifts from 24–48 hr reactive delays to 24–72 hr advance warning — proactive evacuation &amp; optimized resource allocation for 5M+ people.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6223863" y="3749040"/>
            <a:ext cx="5464911" cy="2048256"/>
          </a:xfrm>
          <a:prstGeom prst="roundRect">
            <a:avLst>
              <a:gd name="adj" fmla="val 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5378" name="Oval 15377"/>
          <p:cNvSpPr/>
          <p:nvPr/>
        </p:nvSpPr>
        <p:spPr>
          <a:xfrm>
            <a:off x="6397599" y="3922776"/>
            <a:ext cx="566928" cy="566928"/>
          </a:xfrm>
          <a:prstGeom prst="ellipse">
            <a:avLst/>
          </a:prstGeom>
          <a:solidFill>
            <a:srgbClr val="2E7D46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5-Point Star 15378"/>
          <p:cNvSpPr/>
          <p:nvPr/>
        </p:nvSpPr>
        <p:spPr>
          <a:xfrm>
            <a:off x="6539331" y="4064508"/>
            <a:ext cx="283464" cy="283464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0" name="TextBox 15379"/>
          <p:cNvSpPr txBox="1"/>
          <p:nvPr/>
        </p:nvSpPr>
        <p:spPr>
          <a:xfrm>
            <a:off x="7092543" y="3950208"/>
            <a:ext cx="4459071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450" b="1" i="0">
                <a:solidFill>
                  <a:srgbClr val="1B3A5C"/>
                </a:solidFill>
                <a:latin typeface="Calibri"/>
              </a:rPr>
              <a:t>Uniqueness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6479895" y="4645152"/>
            <a:ext cx="4952847" cy="996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8000"/>
              </a:lnSpc>
            </a:pPr>
            <a:r>
              <a:rPr sz="1150" b="1" i="0">
                <a:solidFill>
                  <a:srgbClr val="2E7D46"/>
                </a:solidFill>
                <a:latin typeface="Calibri"/>
              </a:rPr>
              <a:t>A first for NER: </a:t>
            </a:r>
            <a:r>
              <a:rPr sz="1150" b="0" i="0">
                <a:solidFill>
                  <a:srgbClr val="44546A"/>
                </a:solidFill>
                <a:latin typeface="Calibri"/>
              </a:rPr>
              <a:t>First ML-powered predictive landslide system with offline-first design, citizen crowdsourcing, and multi-hazard extensibility.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6040" y="45720"/>
            <a:ext cx="6400800" cy="868680"/>
          </a:xfrm>
        </p:spPr>
        <p:txBody>
          <a:bodyPr wrap="square" anchor="ctr"/>
          <a:lstStyle/>
          <a:p>
            <a:pPr algn="l" eaLnBrk="1" hangingPunct="1"/>
            <a:r>
              <a:rPr sz="2600" b="1" i="0">
                <a:solidFill>
                  <a:srgbClr val="1B3A5C"/>
                </a:solidFill>
                <a:latin typeface="Calibri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2412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B3A5C"/>
                </a:solidFill>
                <a:latin typeface="Calibri"/>
              </a:rPr>
              <a:t>TECHNOLOGY STACK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335024"/>
            <a:ext cx="320040" cy="41148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81328"/>
            <a:ext cx="3618890" cy="658368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630936" y="1764792"/>
            <a:ext cx="91440" cy="914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843312" y="1722025"/>
            <a:ext cx="3179978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 i="0" dirty="0">
                <a:solidFill>
                  <a:srgbClr val="1B3A5C"/>
                </a:solidFill>
                <a:latin typeface="Calibri"/>
              </a:rPr>
              <a:t>Backend:  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Python </a:t>
            </a:r>
            <a:r>
              <a:rPr sz="1000" b="0" i="0" dirty="0" err="1">
                <a:solidFill>
                  <a:srgbClr val="44546A"/>
                </a:solidFill>
                <a:latin typeface="Calibri"/>
              </a:rPr>
              <a:t>FastAPI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 · Node.js · 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86402" y="1481328"/>
            <a:ext cx="3618890" cy="658368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414418" y="1764792"/>
            <a:ext cx="91440" cy="91440"/>
          </a:xfrm>
          <a:prstGeom prst="ellipse">
            <a:avLst/>
          </a:prstGeom>
          <a:solidFill>
            <a:srgbClr val="D95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597298" y="1722025"/>
            <a:ext cx="3179978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 i="0" dirty="0">
                <a:solidFill>
                  <a:srgbClr val="1B3A5C"/>
                </a:solidFill>
                <a:latin typeface="Calibri"/>
              </a:rPr>
              <a:t>AI / ML:  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  Random Forest ·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69884" y="1481328"/>
            <a:ext cx="3618890" cy="658368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9" name="Oval 17418"/>
          <p:cNvSpPr/>
          <p:nvPr/>
        </p:nvSpPr>
        <p:spPr>
          <a:xfrm>
            <a:off x="8197900" y="1764792"/>
            <a:ext cx="91440" cy="91440"/>
          </a:xfrm>
          <a:prstGeom prst="ellipse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8380780" y="1722025"/>
            <a:ext cx="3179978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 i="0" dirty="0">
                <a:solidFill>
                  <a:srgbClr val="1B3A5C"/>
                </a:solidFill>
                <a:latin typeface="Calibri"/>
              </a:rPr>
              <a:t>Frontend:  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React.js </a:t>
            </a:r>
            <a:r>
              <a:rPr lang="en-IN" sz="1000" dirty="0">
                <a:solidFill>
                  <a:srgbClr val="44546A"/>
                </a:solidFill>
                <a:latin typeface="Calibri"/>
              </a:rPr>
              <a:t>Three.js 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 Unity WebGL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502920" y="2258568"/>
            <a:ext cx="3618890" cy="658368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630936" y="2542032"/>
            <a:ext cx="91440" cy="91440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13816" y="2499265"/>
            <a:ext cx="3179978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 i="0" dirty="0">
                <a:solidFill>
                  <a:srgbClr val="1B3A5C"/>
                </a:solidFill>
                <a:latin typeface="Calibri"/>
              </a:rPr>
              <a:t>Database:  </a:t>
            </a:r>
            <a:r>
              <a:rPr sz="1000" b="0" i="0" dirty="0" err="1">
                <a:solidFill>
                  <a:srgbClr val="44546A"/>
                </a:solidFill>
                <a:latin typeface="Calibri"/>
              </a:rPr>
              <a:t>PostgreSQL+PostGIS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  ·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304690" y="2276697"/>
            <a:ext cx="3618890" cy="658368"/>
          </a:xfrm>
          <a:prstGeom prst="roundRect">
            <a:avLst>
              <a:gd name="adj" fmla="val 16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8" name="Oval 17427"/>
          <p:cNvSpPr/>
          <p:nvPr/>
        </p:nvSpPr>
        <p:spPr>
          <a:xfrm>
            <a:off x="4474158" y="2568415"/>
            <a:ext cx="91440" cy="91440"/>
          </a:xfrm>
          <a:prstGeom prst="ellipse">
            <a:avLst/>
          </a:prstGeom>
          <a:solidFill>
            <a:srgbClr val="0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4605404" y="2522704"/>
            <a:ext cx="3179978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150" b="1" i="0" dirty="0">
                <a:solidFill>
                  <a:srgbClr val="1B3A5C"/>
                </a:solidFill>
                <a:latin typeface="Calibri"/>
              </a:rPr>
              <a:t>Cloud: 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· Docker</a:t>
            </a:r>
            <a:r>
              <a:rPr lang="en-IN" sz="1000" b="0" i="0" dirty="0">
                <a:solidFill>
                  <a:srgbClr val="44546A"/>
                </a:solidFill>
                <a:latin typeface="Calibri"/>
              </a:rPr>
              <a:t> </a:t>
            </a:r>
            <a:r>
              <a:rPr lang="en-IN" sz="1000" b="0" i="0" dirty="0" err="1">
                <a:solidFill>
                  <a:srgbClr val="44546A"/>
                </a:solidFill>
                <a:latin typeface="Calibri"/>
              </a:rPr>
              <a:t>Uvicorn</a:t>
            </a:r>
            <a:r>
              <a:rPr sz="1000" b="0" i="0" dirty="0">
                <a:solidFill>
                  <a:srgbClr val="44546A"/>
                </a:solidFill>
                <a:latin typeface="Calibri"/>
              </a:rPr>
              <a:t> 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502920" y="3236976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B3A5C"/>
                </a:solidFill>
                <a:latin typeface="Calibri"/>
              </a:rPr>
              <a:t>METHODOLOGY &amp; IMPLEMENTATION — PIPELINE FLOW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502920" y="3547872"/>
            <a:ext cx="320040" cy="41148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32" name="Connector 17431"/>
          <p:cNvCxnSpPr/>
          <p:nvPr/>
        </p:nvCxnSpPr>
        <p:spPr>
          <a:xfrm>
            <a:off x="2523744" y="3950208"/>
            <a:ext cx="249859" cy="0"/>
          </a:xfrm>
          <a:prstGeom prst="line">
            <a:avLst/>
          </a:prstGeom>
          <a:ln w="2857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Oval 17432"/>
          <p:cNvSpPr/>
          <p:nvPr/>
        </p:nvSpPr>
        <p:spPr>
          <a:xfrm>
            <a:off x="1243584" y="3694176"/>
            <a:ext cx="512064" cy="512064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02920" y="4261104"/>
            <a:ext cx="1993392" cy="11612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594360" y="431596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B3A5C"/>
                </a:solidFill>
                <a:latin typeface="Calibri"/>
              </a:rPr>
              <a:t>Data Pipeline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94360" y="4608576"/>
            <a:ext cx="1810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4546A"/>
                </a:solidFill>
                <a:latin typeface="Calibri"/>
              </a:rPr>
              <a:t>IMD weather, Sentinel imagery, DEM, soil moisture, citizen reports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4821859" y="3950208"/>
            <a:ext cx="249860" cy="0"/>
          </a:xfrm>
          <a:prstGeom prst="line">
            <a:avLst/>
          </a:prstGeom>
          <a:ln w="2857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Oval 17437"/>
          <p:cNvSpPr/>
          <p:nvPr/>
        </p:nvSpPr>
        <p:spPr>
          <a:xfrm>
            <a:off x="3541699" y="3694176"/>
            <a:ext cx="512064" cy="512064"/>
          </a:xfrm>
          <a:prstGeom prst="ellipse">
            <a:avLst/>
          </a:prstGeom>
          <a:solidFill>
            <a:srgbClr val="0B4F8A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801035" y="4261104"/>
            <a:ext cx="1993392" cy="11612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40" name="TextBox 17439"/>
          <p:cNvSpPr txBox="1"/>
          <p:nvPr/>
        </p:nvSpPr>
        <p:spPr>
          <a:xfrm>
            <a:off x="2892475" y="431596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B3A5C"/>
                </a:solidFill>
                <a:latin typeface="Calibri"/>
              </a:rPr>
              <a:t>Feature Engineering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2892475" y="4608576"/>
            <a:ext cx="1810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4546A"/>
                </a:solidFill>
                <a:latin typeface="Calibri"/>
              </a:rPr>
              <a:t>25+ geomorphological features (slope, rainfall, NDVI, temporal)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7119975" y="3950208"/>
            <a:ext cx="249860" cy="0"/>
          </a:xfrm>
          <a:prstGeom prst="line">
            <a:avLst/>
          </a:prstGeom>
          <a:ln w="2857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Oval 17442"/>
          <p:cNvSpPr/>
          <p:nvPr/>
        </p:nvSpPr>
        <p:spPr>
          <a:xfrm>
            <a:off x="5839815" y="3694176"/>
            <a:ext cx="512064" cy="512064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5099151" y="4261104"/>
            <a:ext cx="1993392" cy="11612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45" name="TextBox 17444"/>
          <p:cNvSpPr txBox="1"/>
          <p:nvPr/>
        </p:nvSpPr>
        <p:spPr>
          <a:xfrm>
            <a:off x="5190591" y="431596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B3A5C"/>
                </a:solidFill>
                <a:latin typeface="Calibri"/>
              </a:rPr>
              <a:t>ML Pipeline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190591" y="4608576"/>
            <a:ext cx="1810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4546A"/>
                </a:solidFill>
                <a:latin typeface="Calibri"/>
              </a:rPr>
              <a:t>Ensemble training, cross-val. 87%+ accuracy, &lt;1s latency (AWS Lambda)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9418091" y="3950208"/>
            <a:ext cx="249860" cy="0"/>
          </a:xfrm>
          <a:prstGeom prst="line">
            <a:avLst/>
          </a:prstGeom>
          <a:ln w="2857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Oval 17447"/>
          <p:cNvSpPr/>
          <p:nvPr/>
        </p:nvSpPr>
        <p:spPr>
          <a:xfrm>
            <a:off x="8137931" y="3694176"/>
            <a:ext cx="512064" cy="512064"/>
          </a:xfrm>
          <a:prstGeom prst="ellipse">
            <a:avLst/>
          </a:prstGeom>
          <a:solidFill>
            <a:srgbClr val="2E7D46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7397267" y="4261104"/>
            <a:ext cx="1993392" cy="11612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50" name="TextBox 17449"/>
          <p:cNvSpPr txBox="1"/>
          <p:nvPr/>
        </p:nvSpPr>
        <p:spPr>
          <a:xfrm>
            <a:off x="7488707" y="431596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B3A5C"/>
                </a:solidFill>
                <a:latin typeface="Calibri"/>
              </a:rPr>
              <a:t>Alert System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488707" y="4608576"/>
            <a:ext cx="1810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4546A"/>
                </a:solidFill>
                <a:latin typeface="Calibri"/>
              </a:rPr>
              <a:t>Risk scoring → GIS heatmap → SMS/push in 8 languages</a:t>
            </a:r>
          </a:p>
        </p:txBody>
      </p:sp>
      <p:sp>
        <p:nvSpPr>
          <p:cNvPr id="17452" name="Oval 17451"/>
          <p:cNvSpPr/>
          <p:nvPr/>
        </p:nvSpPr>
        <p:spPr>
          <a:xfrm>
            <a:off x="10436047" y="3694176"/>
            <a:ext cx="512064" cy="512064"/>
          </a:xfrm>
          <a:prstGeom prst="ellipse">
            <a:avLst/>
          </a:prstGeom>
          <a:solidFill>
            <a:srgbClr val="6D4C8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9695383" y="4261104"/>
            <a:ext cx="1993392" cy="116128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9786823" y="4315968"/>
            <a:ext cx="181051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B3A5C"/>
                </a:solidFill>
                <a:latin typeface="Calibri"/>
              </a:rPr>
              <a:t>Dashboard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9786823" y="4608576"/>
            <a:ext cx="1810512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44546A"/>
                </a:solidFill>
                <a:latin typeface="Calibri"/>
              </a:rPr>
              <a:t>3D terrain visualization (Unity + Cesium), EOC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6040" y="45720"/>
            <a:ext cx="6400800" cy="868680"/>
          </a:xfrm>
        </p:spPr>
        <p:txBody>
          <a:bodyPr wrap="square" anchor="ctr"/>
          <a:lstStyle/>
          <a:p>
            <a:pPr algn="l" eaLnBrk="1" hangingPunct="1"/>
            <a:r>
              <a:rPr sz="2600" b="1" i="0">
                <a:solidFill>
                  <a:srgbClr val="1B3A5C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00584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B3A5C"/>
                </a:solidFill>
                <a:latin typeface="Calibri"/>
              </a:rPr>
              <a:t>FEASIBILITY ANALYSIS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316736"/>
            <a:ext cx="320040" cy="41148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371600"/>
            <a:ext cx="2673019" cy="129844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667512" y="2029967"/>
            <a:ext cx="23438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Data Availability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49224" y="2286000"/>
            <a:ext cx="2380411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44546A"/>
                </a:solidFill>
                <a:latin typeface="Calibri"/>
              </a:rPr>
              <a:t>IMD weather + ISRO Sentinel imagery, free under government agreements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340531" y="1371600"/>
            <a:ext cx="2673019" cy="129844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3477691" y="149047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505123" y="2029967"/>
            <a:ext cx="23438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ML Feasibility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3486835" y="2286000"/>
            <a:ext cx="2380411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44546A"/>
                </a:solidFill>
                <a:latin typeface="Calibri"/>
              </a:rPr>
              <a:t>2000+ historical records; 87%+ accuracy shown in peer-reviewed studies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178143" y="1371600"/>
            <a:ext cx="2673019" cy="129844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6315303" y="149047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342735" y="2029967"/>
            <a:ext cx="23438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Tech Stack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324447" y="2286000"/>
            <a:ext cx="2380411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44546A"/>
                </a:solidFill>
                <a:latin typeface="Calibri"/>
              </a:rPr>
              <a:t>All open-source / COTS components; prototype achievable in 6 months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015755" y="1371600"/>
            <a:ext cx="2673019" cy="1298448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5" name="Oval 17424"/>
          <p:cNvSpPr/>
          <p:nvPr/>
        </p:nvSpPr>
        <p:spPr>
          <a:xfrm>
            <a:off x="9152915" y="149047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180347" y="2029967"/>
            <a:ext cx="234383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B3A5C"/>
                </a:solidFill>
                <a:latin typeface="Calibri"/>
              </a:rPr>
              <a:t>User Adoption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162059" y="2286000"/>
            <a:ext cx="2380411" cy="3840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0" i="0">
                <a:solidFill>
                  <a:srgbClr val="44546A"/>
                </a:solidFill>
                <a:latin typeface="Calibri"/>
              </a:rPr>
              <a:t>SMS alerts need no smartphone (2G-ready); multilingual reach for 5M+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02920" y="294436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 i="0">
                <a:solidFill>
                  <a:srgbClr val="1B3A5C"/>
                </a:solidFill>
                <a:latin typeface="Calibri"/>
              </a:rPr>
              <a:t>POTENTIAL CHALLENGES → MITIGATION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02920" y="3255263"/>
            <a:ext cx="320040" cy="41148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Oval 17429"/>
          <p:cNvSpPr/>
          <p:nvPr/>
        </p:nvSpPr>
        <p:spPr>
          <a:xfrm>
            <a:off x="530352" y="3392424"/>
            <a:ext cx="310896" cy="310896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23544" y="3328415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44546A"/>
                </a:solidFill>
                <a:latin typeface="Calibri"/>
              </a:rPr>
              <a:t>Data gaps in remote areas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617720" y="3547872"/>
            <a:ext cx="960120" cy="0"/>
          </a:xfrm>
          <a:prstGeom prst="line">
            <a:avLst/>
          </a:prstGeom>
          <a:ln w="2222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Oval 17432"/>
          <p:cNvSpPr/>
          <p:nvPr/>
        </p:nvSpPr>
        <p:spPr>
          <a:xfrm>
            <a:off x="5349240" y="3429000"/>
            <a:ext cx="237744" cy="237744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TextBox 17433"/>
          <p:cNvSpPr txBox="1"/>
          <p:nvPr/>
        </p:nvSpPr>
        <p:spPr>
          <a:xfrm>
            <a:off x="5715000" y="3328415"/>
            <a:ext cx="5897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44546A"/>
                </a:solidFill>
                <a:latin typeface="Calibri"/>
              </a:rPr>
              <a:t>Citizen crowdsourcing + AI crack detection + sensor partnerships</a:t>
            </a:r>
          </a:p>
        </p:txBody>
      </p:sp>
      <p:sp>
        <p:nvSpPr>
          <p:cNvPr id="17435" name="Oval 17434"/>
          <p:cNvSpPr/>
          <p:nvPr/>
        </p:nvSpPr>
        <p:spPr>
          <a:xfrm>
            <a:off x="530352" y="3881628"/>
            <a:ext cx="310896" cy="310896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23544" y="3817620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44546A"/>
                </a:solidFill>
                <a:latin typeface="Calibri"/>
              </a:rPr>
              <a:t>Low connectivity in villages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4617720" y="4037076"/>
            <a:ext cx="960120" cy="0"/>
          </a:xfrm>
          <a:prstGeom prst="line">
            <a:avLst/>
          </a:prstGeom>
          <a:ln w="2222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Oval 17437"/>
          <p:cNvSpPr/>
          <p:nvPr/>
        </p:nvSpPr>
        <p:spPr>
          <a:xfrm>
            <a:off x="5349240" y="3918204"/>
            <a:ext cx="237744" cy="237744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5715000" y="3817620"/>
            <a:ext cx="5897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44546A"/>
                </a:solidFill>
                <a:latin typeface="Calibri"/>
              </a:rPr>
              <a:t>Offline-first app, SMS fallback, edge ML deployment</a:t>
            </a:r>
          </a:p>
        </p:txBody>
      </p:sp>
      <p:sp>
        <p:nvSpPr>
          <p:cNvPr id="17440" name="Oval 17439"/>
          <p:cNvSpPr/>
          <p:nvPr/>
        </p:nvSpPr>
        <p:spPr>
          <a:xfrm>
            <a:off x="530352" y="4370832"/>
            <a:ext cx="310896" cy="310896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923544" y="4306824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44546A"/>
                </a:solidFill>
                <a:latin typeface="Calibri"/>
              </a:rPr>
              <a:t>Model drift from climate change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4617720" y="4526280"/>
            <a:ext cx="960120" cy="0"/>
          </a:xfrm>
          <a:prstGeom prst="line">
            <a:avLst/>
          </a:prstGeom>
          <a:ln w="2222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Oval 17442"/>
          <p:cNvSpPr/>
          <p:nvPr/>
        </p:nvSpPr>
        <p:spPr>
          <a:xfrm>
            <a:off x="5349240" y="4407408"/>
            <a:ext cx="237744" cy="237744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5715000" y="4306824"/>
            <a:ext cx="5897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44546A"/>
                </a:solidFill>
                <a:latin typeface="Calibri"/>
              </a:rPr>
              <a:t>Continuous retraining, seasonal model updates</a:t>
            </a:r>
          </a:p>
        </p:txBody>
      </p:sp>
      <p:sp>
        <p:nvSpPr>
          <p:cNvPr id="17445" name="Oval 17444"/>
          <p:cNvSpPr/>
          <p:nvPr/>
        </p:nvSpPr>
        <p:spPr>
          <a:xfrm>
            <a:off x="530352" y="4860036"/>
            <a:ext cx="310896" cy="310896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923544" y="4796027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44546A"/>
                </a:solidFill>
                <a:latin typeface="Calibri"/>
              </a:rPr>
              <a:t>Adoption resistance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4617720" y="5015483"/>
            <a:ext cx="960120" cy="0"/>
          </a:xfrm>
          <a:prstGeom prst="line">
            <a:avLst/>
          </a:prstGeom>
          <a:ln w="2222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Oval 17447"/>
          <p:cNvSpPr/>
          <p:nvPr/>
        </p:nvSpPr>
        <p:spPr>
          <a:xfrm>
            <a:off x="5349240" y="4896612"/>
            <a:ext cx="237744" cy="237744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5715000" y="4796027"/>
            <a:ext cx="5897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44546A"/>
                </a:solidFill>
                <a:latin typeface="Calibri"/>
              </a:rPr>
              <a:t>Community engagement, proven lives-saved messaging, govt. mandate</a:t>
            </a:r>
          </a:p>
        </p:txBody>
      </p:sp>
      <p:sp>
        <p:nvSpPr>
          <p:cNvPr id="17450" name="Oval 17449"/>
          <p:cNvSpPr/>
          <p:nvPr/>
        </p:nvSpPr>
        <p:spPr>
          <a:xfrm>
            <a:off x="530352" y="5349240"/>
            <a:ext cx="310896" cy="310896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923544" y="5285231"/>
            <a:ext cx="370332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50" b="1" i="0">
                <a:solidFill>
                  <a:srgbClr val="44546A"/>
                </a:solidFill>
                <a:latin typeface="Calibri"/>
              </a:rPr>
              <a:t>Maintenance costs</a:t>
            </a:r>
          </a:p>
        </p:txBody>
      </p:sp>
      <p:cxnSp>
        <p:nvCxnSpPr>
          <p:cNvPr id="17452" name="Connector 17451"/>
          <p:cNvCxnSpPr/>
          <p:nvPr/>
        </p:nvCxnSpPr>
        <p:spPr>
          <a:xfrm>
            <a:off x="4617720" y="5504688"/>
            <a:ext cx="960120" cy="0"/>
          </a:xfrm>
          <a:prstGeom prst="line">
            <a:avLst/>
          </a:prstGeom>
          <a:ln w="22225">
            <a:solidFill>
              <a:srgbClr val="D9E2E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Oval 17452"/>
          <p:cNvSpPr/>
          <p:nvPr/>
        </p:nvSpPr>
        <p:spPr>
          <a:xfrm>
            <a:off x="5349240" y="5385816"/>
            <a:ext cx="237744" cy="237744"/>
          </a:xfrm>
          <a:prstGeom prst="ellipse">
            <a:avLst/>
          </a:prstGeom>
          <a:solidFill>
            <a:srgbClr val="2E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5715000" y="5285231"/>
            <a:ext cx="58978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0000"/>
              </a:lnSpc>
            </a:pPr>
            <a:r>
              <a:rPr sz="1000" b="0" i="0">
                <a:solidFill>
                  <a:srgbClr val="44546A"/>
                </a:solidFill>
                <a:latin typeface="Calibri"/>
              </a:rPr>
              <a:t>Govt. budget allocation, climate finance, B2G licensing model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6040" y="45720"/>
            <a:ext cx="6400800" cy="868680"/>
          </a:xfrm>
        </p:spPr>
        <p:txBody>
          <a:bodyPr wrap="square" anchor="ctr"/>
          <a:lstStyle/>
          <a:p>
            <a:pPr algn="l" eaLnBrk="1" hangingPunct="1"/>
            <a:r>
              <a:rPr sz="2600" b="1" i="0">
                <a:solidFill>
                  <a:srgbClr val="1B3A5C"/>
                </a:solidFill>
                <a:latin typeface="Calibri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024128"/>
            <a:ext cx="2686735" cy="914400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576072" y="1115568"/>
            <a:ext cx="254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D9531E"/>
                </a:solidFill>
                <a:latin typeface="Calibri"/>
              </a:rPr>
              <a:t>500–1000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576072" y="1572768"/>
            <a:ext cx="254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46A"/>
                </a:solidFill>
                <a:latin typeface="Calibri"/>
              </a:rPr>
              <a:t>lives saved / year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335959" y="1024128"/>
            <a:ext cx="2686735" cy="914400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3409111" y="1115568"/>
            <a:ext cx="254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0070C0"/>
                </a:solidFill>
                <a:latin typeface="Calibri"/>
              </a:rPr>
              <a:t>5M+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409111" y="1572768"/>
            <a:ext cx="254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46A"/>
                </a:solidFill>
                <a:latin typeface="Calibri"/>
              </a:rPr>
              <a:t>people gain early warning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168999" y="1024128"/>
            <a:ext cx="2686735" cy="914400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242151" y="1115568"/>
            <a:ext cx="254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2E7D46"/>
                </a:solidFill>
                <a:latin typeface="Calibri"/>
              </a:rPr>
              <a:t>₹50–100 Cr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42151" y="1572768"/>
            <a:ext cx="254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46A"/>
                </a:solidFill>
                <a:latin typeface="Calibri"/>
              </a:rPr>
              <a:t>annual damage avoided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02039" y="1024128"/>
            <a:ext cx="2686735" cy="914400"/>
          </a:xfrm>
          <a:prstGeom prst="roundRect">
            <a:avLst>
              <a:gd name="adj" fmla="val 12000"/>
            </a:avLst>
          </a:prstGeom>
          <a:solidFill>
            <a:srgbClr val="FFF3E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9075191" y="1115568"/>
            <a:ext cx="254043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900" b="1" i="0">
                <a:solidFill>
                  <a:srgbClr val="0B4F8A"/>
                </a:solidFill>
                <a:latin typeface="Calibri"/>
              </a:rPr>
              <a:t>70%→95%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075191" y="1572768"/>
            <a:ext cx="2540431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0" i="0">
                <a:solidFill>
                  <a:srgbClr val="44546A"/>
                </a:solidFill>
                <a:latin typeface="Calibri"/>
              </a:rPr>
              <a:t>road network uptime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02920" y="2194560"/>
            <a:ext cx="3594506" cy="26060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3" name="Oval 17422"/>
          <p:cNvSpPr/>
          <p:nvPr/>
        </p:nvSpPr>
        <p:spPr>
          <a:xfrm>
            <a:off x="649224" y="2322576"/>
            <a:ext cx="475488" cy="475488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Heart 17423"/>
          <p:cNvSpPr/>
          <p:nvPr/>
        </p:nvSpPr>
        <p:spPr>
          <a:xfrm>
            <a:off x="768096" y="2441448"/>
            <a:ext cx="237744" cy="237744"/>
          </a:xfrm>
          <a:prstGeom prst="hear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5" name="TextBox 17424"/>
          <p:cNvSpPr txBox="1"/>
          <p:nvPr/>
        </p:nvSpPr>
        <p:spPr>
          <a:xfrm>
            <a:off x="1216152" y="2377440"/>
            <a:ext cx="277154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1B3A5C"/>
                </a:solidFill>
                <a:latin typeface="Calibri"/>
              </a:rPr>
              <a:t>Social Impact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22376" y="2944368"/>
            <a:ext cx="317388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D9531E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500–1000 lives saved annually via predictive evacuation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D9531E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5M people in NER gain early-warning access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D9531E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Bridges digital divide: offline-capable, multilingual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D9531E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Empowers rural communities via crowdsourcing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298594" y="2194560"/>
            <a:ext cx="3594506" cy="26060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8" name="Oval 17427"/>
          <p:cNvSpPr/>
          <p:nvPr/>
        </p:nvSpPr>
        <p:spPr>
          <a:xfrm>
            <a:off x="4444898" y="2322576"/>
            <a:ext cx="475488" cy="47548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Hexagon 17428"/>
          <p:cNvSpPr/>
          <p:nvPr/>
        </p:nvSpPr>
        <p:spPr>
          <a:xfrm>
            <a:off x="4563770" y="2441448"/>
            <a:ext cx="237744" cy="237744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0" name="TextBox 17429"/>
          <p:cNvSpPr txBox="1"/>
          <p:nvPr/>
        </p:nvSpPr>
        <p:spPr>
          <a:xfrm>
            <a:off x="5011826" y="2377440"/>
            <a:ext cx="277154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1B3A5C"/>
                </a:solidFill>
                <a:latin typeface="Calibri"/>
              </a:rPr>
              <a:t>Economic Impact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518050" y="2944368"/>
            <a:ext cx="317388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₹50–100 Cr annual cost avoidance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Road uptime: 70% → 95% (supply-chain resilience)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Agriculture &amp; livelihood security via weather guidance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0070C0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Job creation through maintenance &amp; expansion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8094268" y="2194560"/>
            <a:ext cx="3594506" cy="26060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33" name="Oval 17432"/>
          <p:cNvSpPr/>
          <p:nvPr/>
        </p:nvSpPr>
        <p:spPr>
          <a:xfrm>
            <a:off x="8240572" y="2322576"/>
            <a:ext cx="475488" cy="475488"/>
          </a:xfrm>
          <a:prstGeom prst="ellipse">
            <a:avLst/>
          </a:prstGeom>
          <a:solidFill>
            <a:srgbClr val="2E7D46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Cloud 17433"/>
          <p:cNvSpPr/>
          <p:nvPr/>
        </p:nvSpPr>
        <p:spPr>
          <a:xfrm>
            <a:off x="8359444" y="2441448"/>
            <a:ext cx="237744" cy="237744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8807500" y="2377440"/>
            <a:ext cx="277154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50" b="1" i="0">
                <a:solidFill>
                  <a:srgbClr val="1B3A5C"/>
                </a:solidFill>
                <a:latin typeface="Calibri"/>
              </a:rPr>
              <a:t>Environmental &amp; Climate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313724" y="2944368"/>
            <a:ext cx="3173882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2E7D46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Adaptation to intensifying rainfall events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2E7D46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Biodiversity protection, less reactive habitat loss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2E7D46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Reduced disaster-response emissions</a:t>
            </a:r>
          </a:p>
          <a:p>
            <a:pPr marL="146304" indent="-146304">
              <a:lnSpc>
                <a:spcPct val="105000"/>
              </a:lnSpc>
              <a:spcAft>
                <a:spcPts val="1200"/>
              </a:spcAft>
              <a:buClr>
                <a:srgbClr val="2E7D46"/>
              </a:buClr>
              <a:buFont typeface="Arial"/>
              <a:buChar char="•"/>
            </a:pPr>
            <a:r>
              <a:rPr sz="1050" b="0" i="0">
                <a:solidFill>
                  <a:srgbClr val="44546A"/>
                </a:solidFill>
                <a:latin typeface="Calibri"/>
              </a:rPr>
              <a:t>Supports Paris Agreement &amp; SDG 13 commitments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02920" y="5020056"/>
            <a:ext cx="11185855" cy="566928"/>
          </a:xfrm>
          <a:prstGeom prst="roundRect">
            <a:avLst>
              <a:gd name="adj" fmla="val 14000"/>
            </a:avLst>
          </a:prstGeom>
          <a:solidFill>
            <a:srgbClr val="1B3A5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Aligned with India’s Paris Agreement commitments and SDG 13: Climate Action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606040" y="45720"/>
            <a:ext cx="6400800" cy="868680"/>
          </a:xfrm>
        </p:spPr>
        <p:txBody>
          <a:bodyPr wrap="square" anchor="ctr"/>
          <a:lstStyle/>
          <a:p>
            <a:pPr algn="l" eaLnBrk="1" hangingPunct="1"/>
            <a:r>
              <a:rPr sz="2600" b="1" i="0">
                <a:solidFill>
                  <a:srgbClr val="1B3A5C"/>
                </a:solidFill>
                <a:latin typeface="Calibri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02920" y="1280160"/>
            <a:ext cx="3594506" cy="30632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649224" y="1426463"/>
            <a:ext cx="475488" cy="475488"/>
          </a:xfrm>
          <a:prstGeom prst="ellipse">
            <a:avLst/>
          </a:prstGeom>
          <a:solidFill>
            <a:srgbClr val="0070C0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5-Point Star 17411"/>
          <p:cNvSpPr/>
          <p:nvPr/>
        </p:nvSpPr>
        <p:spPr>
          <a:xfrm>
            <a:off x="768096" y="1545336"/>
            <a:ext cx="237744" cy="237744"/>
          </a:xfrm>
          <a:prstGeom prst="star5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TextBox 17412"/>
          <p:cNvSpPr txBox="1"/>
          <p:nvPr/>
        </p:nvSpPr>
        <p:spPr>
          <a:xfrm>
            <a:off x="1216152" y="1481328"/>
            <a:ext cx="27715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1B3A5C"/>
                </a:solidFill>
                <a:latin typeface="Calibri"/>
              </a:rPr>
              <a:t>Published Research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22376" y="2084831"/>
            <a:ext cx="317388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0070C0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Reichenbach et al. (2018) — Landslide susceptibility mapping using ML, Landslides journal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0070C0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Segoni et al. (2018) — Rainfall-triggered landslide prediction, Nat. Hazards &amp; Earth Sys. Sci.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0070C0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Calvello &amp; Piciullo (2016) — Real-time early warning systems, Bull. Eng. Geology &amp; Env.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98594" y="1280160"/>
            <a:ext cx="3594506" cy="30632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4444898" y="1426463"/>
            <a:ext cx="475488" cy="475488"/>
          </a:xfrm>
          <a:prstGeom prst="ellipse">
            <a:avLst/>
          </a:prstGeom>
          <a:solidFill>
            <a:srgbClr val="D9531E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Hexagon 17416"/>
          <p:cNvSpPr/>
          <p:nvPr/>
        </p:nvSpPr>
        <p:spPr>
          <a:xfrm>
            <a:off x="4563770" y="1545336"/>
            <a:ext cx="237744" cy="237744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TextBox 17417"/>
          <p:cNvSpPr txBox="1"/>
          <p:nvPr/>
        </p:nvSpPr>
        <p:spPr>
          <a:xfrm>
            <a:off x="5011826" y="1481328"/>
            <a:ext cx="27715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1B3A5C"/>
                </a:solidFill>
                <a:latin typeface="Calibri"/>
              </a:rPr>
              <a:t>Data Sources &amp; Partnerships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18050" y="2084831"/>
            <a:ext cx="317388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D9531E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Indian Meteorological Dept. (IMD) — Weather data API (mausam.imd.gov.in)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D9531E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ISRO Sentinel-1/2 data access (bhuvan.nrsc.gov.in)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D9531E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USGS SRTM DEM (earthexplorer.usgs.gov)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D9531E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Global Soil Moisture dataset – SMOS (globcover.org)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94268" y="1280160"/>
            <a:ext cx="3594506" cy="306324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8240572" y="1426463"/>
            <a:ext cx="475488" cy="475488"/>
          </a:xfrm>
          <a:prstGeom prst="ellipse">
            <a:avLst/>
          </a:prstGeom>
          <a:solidFill>
            <a:srgbClr val="2E7D46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Cloud 17421"/>
          <p:cNvSpPr/>
          <p:nvPr/>
        </p:nvSpPr>
        <p:spPr>
          <a:xfrm>
            <a:off x="8359444" y="1545336"/>
            <a:ext cx="237744" cy="237744"/>
          </a:xfrm>
          <a:prstGeom prst="cloud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8807500" y="1481328"/>
            <a:ext cx="277154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200" b="1" i="0">
                <a:solidFill>
                  <a:srgbClr val="1B3A5C"/>
                </a:solidFill>
                <a:latin typeface="Calibri"/>
              </a:rPr>
              <a:t>Government References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313724" y="2084831"/>
            <a:ext cx="3173882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2E7D46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NDMA Landslide Guidelines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2E7D46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Ministry of Earth Sciences – GSI Landslide Inventory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2E7D46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North Eastern Council (NEC) Regional Development Programs</a:t>
            </a:r>
          </a:p>
          <a:p>
            <a:pPr marL="146304" indent="-146304">
              <a:lnSpc>
                <a:spcPct val="105000"/>
              </a:lnSpc>
              <a:spcAft>
                <a:spcPts val="1400"/>
              </a:spcAft>
              <a:buClr>
                <a:srgbClr val="2E7D46"/>
              </a:buClr>
              <a:buFont typeface="Arial"/>
              <a:buChar char="•"/>
            </a:pPr>
            <a:r>
              <a:rPr sz="1080" b="0" i="0">
                <a:solidFill>
                  <a:srgbClr val="44546A"/>
                </a:solidFill>
                <a:latin typeface="Calibri"/>
              </a:rPr>
              <a:t>SIH Theme: Disaster Management &amp; Climate Resilience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02920" y="4599432"/>
            <a:ext cx="11185855" cy="566928"/>
          </a:xfrm>
          <a:prstGeom prst="roundRect">
            <a:avLst>
              <a:gd name="adj" fmla="val 14000"/>
            </a:avLst>
          </a:prstGeom>
          <a:solidFill>
            <a:srgbClr val="1B3A5C"/>
          </a:solidFill>
          <a:ln>
            <a:noFill/>
          </a:ln>
          <a:effectLst>
            <a:outerShdw blurRad="90000" dist="20000" dir="5400000" rotWithShape="0">
              <a:srgbClr val="1B3A5C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Grounded in peer-reviewed science and open government data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7524</TotalTime>
  <Words>866</Words>
  <Application>Microsoft Office PowerPoint</Application>
  <PresentationFormat>Widescreen</PresentationFormat>
  <Paragraphs>137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LandSafe AI: Predictive Landslide Warning System</vt:lpstr>
      <vt:lpstr>TECHNICAL APPROACH</vt:lpstr>
      <vt:lpstr>FEASIBILITY AND VIABILITY</vt:lpstr>
      <vt:lpstr>IMPACT AND BENEFITS</vt:lpstr>
      <vt:lpstr>RESEARCH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Manideep Kukkadapu</cp:lastModifiedBy>
  <cp:revision>150</cp:revision>
  <dcterms:created xsi:type="dcterms:W3CDTF">2013-12-12T18:46:50Z</dcterms:created>
  <dcterms:modified xsi:type="dcterms:W3CDTF">2026-09-05T06:11:20Z</dcterms:modified>
  <cp:category/>
</cp:coreProperties>
</file>